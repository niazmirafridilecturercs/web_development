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83" autoAdjust="0"/>
  </p:normalViewPr>
  <p:slideViewPr>
    <p:cSldViewPr snapToGrid="0">
      <p:cViewPr varScale="1">
        <p:scale>
          <a:sx n="59" d="100"/>
          <a:sy n="59" d="100"/>
        </p:scale>
        <p:origin x="8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17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4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9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1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7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7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6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3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4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CEA61-13C0-42D9-90E3-400B690A81C6}" type="datetimeFigureOut">
              <a:rPr lang="en-US" smtClean="0"/>
              <a:t>08-Sep-25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EC001-1F5A-4580-998C-9570D8C85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5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5103"/>
            <a:ext cx="10515600" cy="1187669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00000"/>
                </a:solidFill>
                <a:latin typeface="Book Antiqua" panose="02040602050305030304" pitchFamily="18" charset="0"/>
              </a:rPr>
              <a:t>Web Development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sz="2800" b="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Lecture 04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929352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200" dirty="0" smtClean="0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200" dirty="0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200" dirty="0" smtClean="0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200" dirty="0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200" dirty="0" smtClean="0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 dirty="0" smtClean="0">
                <a:solidFill>
                  <a:srgbClr val="000000"/>
                </a:solidFill>
                <a:latin typeface="Book Antiqua" panose="02040602050305030304" pitchFamily="18" charset="0"/>
              </a:rPr>
              <a:t>Mr. </a:t>
            </a:r>
            <a:r>
              <a:rPr lang="en-US" altLang="en-US" sz="3200" dirty="0" err="1" smtClean="0">
                <a:solidFill>
                  <a:srgbClr val="000000"/>
                </a:solidFill>
                <a:latin typeface="Book Antiqua" panose="02040602050305030304" pitchFamily="18" charset="0"/>
              </a:rPr>
              <a:t>Niaz</a:t>
            </a:r>
            <a:r>
              <a:rPr lang="en-US" altLang="en-US" sz="3200" dirty="0" smtClean="0">
                <a:solidFill>
                  <a:srgbClr val="000000"/>
                </a:solidFill>
                <a:latin typeface="Book Antiqua" panose="02040602050305030304" pitchFamily="18" charset="0"/>
              </a:rPr>
              <a:t> Mir Khan </a:t>
            </a: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 dirty="0" smtClean="0">
                <a:solidFill>
                  <a:srgbClr val="000000"/>
                </a:solidFill>
                <a:latin typeface="Book Antiqua" panose="02040602050305030304" pitchFamily="18" charset="0"/>
              </a:rPr>
              <a:t>Lecturer in Computer Science </a:t>
            </a: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 dirty="0" smtClean="0">
                <a:solidFill>
                  <a:srgbClr val="000000"/>
                </a:solidFill>
                <a:latin typeface="Book Antiqua" panose="020406020503050303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Book Antiqua" panose="02040602050305030304" pitchFamily="18" charset="0"/>
              </a:rPr>
              <a:t>__________________________________________________</a:t>
            </a: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Book Antiqua" panose="02040602050305030304" pitchFamily="18" charset="0"/>
              </a:rPr>
              <a:t>Department </a:t>
            </a:r>
            <a:r>
              <a:rPr lang="en-US" altLang="en-US" dirty="0">
                <a:solidFill>
                  <a:srgbClr val="000000"/>
                </a:solidFill>
                <a:latin typeface="Book Antiqua" panose="02040602050305030304" pitchFamily="18" charset="0"/>
              </a:rPr>
              <a:t>of Computer Science </a:t>
            </a:r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dirty="0" err="1">
                <a:solidFill>
                  <a:srgbClr val="000000"/>
                </a:solidFill>
                <a:latin typeface="Book Antiqua" panose="02040602050305030304" pitchFamily="18" charset="0"/>
              </a:rPr>
              <a:t>Govt</a:t>
            </a:r>
            <a:r>
              <a:rPr lang="en-US" altLang="en-US" dirty="0">
                <a:solidFill>
                  <a:srgbClr val="000000"/>
                </a:solidFill>
                <a:latin typeface="Book Antiqua" panose="02040602050305030304" pitchFamily="18" charset="0"/>
              </a:rPr>
              <a:t>: Degree College </a:t>
            </a:r>
            <a:r>
              <a:rPr lang="en-US" altLang="en-US" dirty="0" err="1">
                <a:solidFill>
                  <a:srgbClr val="000000"/>
                </a:solidFill>
                <a:latin typeface="Book Antiqua" panose="02040602050305030304" pitchFamily="18" charset="0"/>
              </a:rPr>
              <a:t>Jamrud</a:t>
            </a:r>
            <a:r>
              <a:rPr lang="en-US" altLang="en-US" dirty="0">
                <a:solidFill>
                  <a:srgbClr val="000000"/>
                </a:solidFill>
                <a:latin typeface="Book Antiqua" panose="02040602050305030304" pitchFamily="18" charset="0"/>
              </a:rPr>
              <a:t>, District Khyber </a:t>
            </a:r>
            <a:endParaRPr lang="en-US" altLang="en-US" sz="3200" dirty="0" smtClean="0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H:\degree college logo n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531" y="1219200"/>
            <a:ext cx="3268718" cy="277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183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593"/>
            <a:ext cx="10515600" cy="515007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rgbClr val="FF0000"/>
                </a:solidFill>
                <a:latin typeface="Book Antiqua" panose="02040602050305030304" pitchFamily="18" charset="0"/>
              </a:rPr>
              <a:t>Text Box 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6074979"/>
          </a:xfrm>
        </p:spPr>
        <p:txBody>
          <a:bodyPr>
            <a:normAutofit/>
          </a:bodyPr>
          <a:lstStyle/>
          <a:p>
            <a:pPr>
              <a:buClr>
                <a:srgbClr val="005C84"/>
              </a:buClr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Book Antiqua" panose="02040602050305030304" pitchFamily="18" charset="0"/>
              </a:rPr>
              <a:t>For text box, type=text in &lt;input &gt; tag.</a:t>
            </a:r>
          </a:p>
          <a:p>
            <a:pPr lvl="1">
              <a:buClr>
                <a:srgbClr val="005C84"/>
              </a:buClr>
              <a:buFont typeface="Arial" charset="0"/>
              <a:buChar char="–"/>
              <a:defRPr/>
            </a:pPr>
            <a:r>
              <a:rPr lang="en-US" dirty="0">
                <a:latin typeface="Book Antiqua" panose="02040602050305030304" pitchFamily="18" charset="0"/>
              </a:rPr>
              <a:t>Text field is one line of text in input</a:t>
            </a:r>
          </a:p>
          <a:p>
            <a:pPr marL="0" indent="0">
              <a:buClr>
                <a:srgbClr val="005C84"/>
              </a:buClr>
              <a:buNone/>
              <a:defRPr/>
            </a:pPr>
            <a:r>
              <a:rPr lang="en-US" sz="2400" dirty="0">
                <a:latin typeface="Book Antiqua" panose="02040602050305030304" pitchFamily="18" charset="0"/>
              </a:rPr>
              <a:t>&lt;input type=text Name=“</a:t>
            </a:r>
            <a:r>
              <a:rPr lang="en-US" sz="2400" dirty="0" err="1">
                <a:latin typeface="Book Antiqua" panose="02040602050305030304" pitchFamily="18" charset="0"/>
              </a:rPr>
              <a:t>sname</a:t>
            </a:r>
            <a:r>
              <a:rPr lang="en-US" sz="2400" dirty="0">
                <a:latin typeface="Book Antiqua" panose="02040602050305030304" pitchFamily="18" charset="0"/>
              </a:rPr>
              <a:t>”&gt;</a:t>
            </a:r>
          </a:p>
          <a:p>
            <a:pPr marL="0" indent="0">
              <a:buClr>
                <a:srgbClr val="005C84"/>
              </a:buClr>
              <a:buNone/>
              <a:defRPr/>
            </a:pPr>
            <a:r>
              <a:rPr lang="en-US" sz="2400" dirty="0">
                <a:latin typeface="Book Antiqua" panose="02040602050305030304" pitchFamily="18" charset="0"/>
              </a:rPr>
              <a:t>&lt;Input type=text Name=“address” </a:t>
            </a:r>
            <a:r>
              <a:rPr lang="en-US" sz="2400" i="1" dirty="0">
                <a:latin typeface="Book Antiqua" panose="02040602050305030304" pitchFamily="18" charset="0"/>
              </a:rPr>
              <a:t>Value=“Default Text” </a:t>
            </a:r>
            <a:r>
              <a:rPr lang="en-US" sz="2400" dirty="0">
                <a:latin typeface="Book Antiqua" panose="02040602050305030304" pitchFamily="18" charset="0"/>
              </a:rPr>
              <a:t>&gt;</a:t>
            </a:r>
          </a:p>
          <a:p>
            <a:pPr marL="0" indent="0">
              <a:buClr>
                <a:srgbClr val="005C84"/>
              </a:buClr>
              <a:buNone/>
              <a:defRPr/>
            </a:pPr>
            <a:r>
              <a:rPr lang="en-US" sz="2400" dirty="0">
                <a:latin typeface="Book Antiqua" panose="02040602050305030304" pitchFamily="18" charset="0"/>
              </a:rPr>
              <a:t>&lt;input type=text Name=“age” </a:t>
            </a:r>
            <a:r>
              <a:rPr lang="en-US" sz="2400" i="1" dirty="0">
                <a:latin typeface="Book Antiqua" panose="02040602050305030304" pitchFamily="18" charset="0"/>
              </a:rPr>
              <a:t>size=“4” </a:t>
            </a:r>
            <a:r>
              <a:rPr lang="en-US" sz="2400" i="1" dirty="0" err="1">
                <a:latin typeface="Book Antiqua" panose="02040602050305030304" pitchFamily="18" charset="0"/>
              </a:rPr>
              <a:t>maxlength</a:t>
            </a:r>
            <a:r>
              <a:rPr lang="en-US" sz="2400" i="1" dirty="0">
                <a:latin typeface="Book Antiqua" panose="02040602050305030304" pitchFamily="18" charset="0"/>
              </a:rPr>
              <a:t>=“3” </a:t>
            </a:r>
            <a:r>
              <a:rPr lang="en-US" sz="2400" dirty="0">
                <a:latin typeface="Book Antiqua" panose="02040602050305030304" pitchFamily="18" charset="0"/>
              </a:rPr>
              <a:t>&gt;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GB" sz="2400" dirty="0" smtClean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92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565" y="107404"/>
            <a:ext cx="10515600" cy="462455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565" y="584474"/>
            <a:ext cx="10515600" cy="60265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&lt;form&gt;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Student Name: 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&lt;input type=text Name="</a:t>
            </a:r>
            <a:r>
              <a:rPr lang="en-US" sz="2400" dirty="0" err="1">
                <a:latin typeface="Book Antiqua" panose="02040602050305030304" pitchFamily="18" charset="0"/>
              </a:rPr>
              <a:t>sname</a:t>
            </a:r>
            <a:r>
              <a:rPr lang="en-US" sz="2400" dirty="0">
                <a:latin typeface="Book Antiqua" panose="02040602050305030304" pitchFamily="18" charset="0"/>
              </a:rPr>
              <a:t>" &gt;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&lt;BR&gt;&lt;BR&gt;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Student Address: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&lt;Input type=text Name="address" value= "Computer Science Department UOP" size="80" &gt;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&lt;BR&gt;&lt;BR&gt;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Student Age: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&lt;input type=text Name="age" size="4" </a:t>
            </a:r>
            <a:r>
              <a:rPr lang="en-US" sz="2400" dirty="0" err="1">
                <a:latin typeface="Book Antiqua" panose="02040602050305030304" pitchFamily="18" charset="0"/>
              </a:rPr>
              <a:t>maxlength</a:t>
            </a:r>
            <a:r>
              <a:rPr lang="en-US" sz="2400" dirty="0">
                <a:latin typeface="Book Antiqua" panose="02040602050305030304" pitchFamily="18" charset="0"/>
              </a:rPr>
              <a:t>="2"&gt;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&lt;BR&gt;&lt;BR&gt;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&lt;input type="submit" value="Press to Submit"&gt; 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&lt;input type="Reset" value="Clear Form"&gt;    </a:t>
            </a:r>
          </a:p>
          <a:p>
            <a:pPr marL="0" indent="0">
              <a:buNone/>
            </a:pPr>
            <a:r>
              <a:rPr lang="en-US" sz="2400" dirty="0">
                <a:latin typeface="Book Antiqua" panose="02040602050305030304" pitchFamily="18" charset="0"/>
              </a:rPr>
              <a:t>&lt;/form&gt;</a:t>
            </a:r>
          </a:p>
          <a:p>
            <a:pPr marL="0" indent="0">
              <a:buNone/>
            </a:pPr>
            <a:endParaRPr lang="en-US" sz="2400" dirty="0">
              <a:latin typeface="Book Antiqua" panose="02040602050305030304" pitchFamily="18" charset="0"/>
            </a:endParaRPr>
          </a:p>
        </p:txBody>
      </p:sp>
      <p:pic>
        <p:nvPicPr>
          <p:cNvPr id="4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907" y="46642"/>
            <a:ext cx="7535862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349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3573"/>
            <a:ext cx="10515600" cy="504496"/>
          </a:xfrm>
        </p:spPr>
        <p:txBody>
          <a:bodyPr>
            <a:normAutofit/>
          </a:bodyPr>
          <a:lstStyle/>
          <a:p>
            <a:r>
              <a:rPr lang="en-GB" altLang="en-US" sz="2800" dirty="0">
                <a:solidFill>
                  <a:srgbClr val="FF0000"/>
                </a:solidFill>
                <a:latin typeface="Book Antiqua" panose="02040602050305030304" pitchFamily="18" charset="0"/>
              </a:rPr>
              <a:t>Text Area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8069"/>
            <a:ext cx="10515600" cy="61380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 sz="3800" dirty="0">
                <a:latin typeface="Book Antiqua" panose="02040602050305030304" pitchFamily="18" charset="0"/>
              </a:rPr>
              <a:t>To enter more text in multiple lines, we use Text Area</a:t>
            </a:r>
          </a:p>
          <a:p>
            <a:pPr marL="450850" lvl="1" indent="0">
              <a:buNone/>
              <a:defRPr/>
            </a:pPr>
            <a:r>
              <a:rPr lang="en-US" sz="3800" dirty="0">
                <a:solidFill>
                  <a:srgbClr val="C00000"/>
                </a:solidFill>
                <a:latin typeface="Book Antiqua" panose="02040602050305030304" pitchFamily="18" charset="0"/>
              </a:rPr>
              <a:t>&lt;TEXTAREA </a:t>
            </a:r>
            <a:r>
              <a:rPr lang="en-US" sz="3800" dirty="0">
                <a:latin typeface="Book Antiqua" panose="02040602050305030304" pitchFamily="18" charset="0"/>
              </a:rPr>
              <a:t>NAME=“address" ROWS="10" COLS="60</a:t>
            </a:r>
            <a:r>
              <a:rPr lang="en-US" sz="3800" dirty="0">
                <a:solidFill>
                  <a:srgbClr val="C00000"/>
                </a:solidFill>
                <a:latin typeface="Book Antiqua" panose="02040602050305030304" pitchFamily="18" charset="0"/>
              </a:rPr>
              <a:t>"&gt;</a:t>
            </a:r>
          </a:p>
          <a:p>
            <a:pPr marL="450850" lvl="1" indent="0">
              <a:buNone/>
              <a:defRPr/>
            </a:pPr>
            <a:r>
              <a:rPr lang="en-US" sz="3800" dirty="0">
                <a:latin typeface="Book Antiqua" panose="02040602050305030304" pitchFamily="18" charset="0"/>
              </a:rPr>
              <a:t>default text</a:t>
            </a:r>
          </a:p>
          <a:p>
            <a:pPr marL="450850" lvl="1" indent="0">
              <a:buNone/>
              <a:defRPr/>
            </a:pPr>
            <a:r>
              <a:rPr lang="en-US" sz="3800" dirty="0">
                <a:solidFill>
                  <a:srgbClr val="C00000"/>
                </a:solidFill>
                <a:latin typeface="Book Antiqua" panose="02040602050305030304" pitchFamily="18" charset="0"/>
              </a:rPr>
              <a:t>&lt;/TEXTAREA&gt;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&lt;form&gt;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Student Name: 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&lt;input type=text Name="</a:t>
            </a:r>
            <a:r>
              <a:rPr lang="en-GB" altLang="en-US" sz="3200" dirty="0" err="1">
                <a:latin typeface="Book Antiqua" panose="02040602050305030304" pitchFamily="18" charset="0"/>
              </a:rPr>
              <a:t>sname</a:t>
            </a:r>
            <a:r>
              <a:rPr lang="en-GB" altLang="en-US" sz="3200" dirty="0">
                <a:latin typeface="Book Antiqua" panose="02040602050305030304" pitchFamily="18" charset="0"/>
              </a:rPr>
              <a:t>" &gt;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&lt;BR&gt;&lt;BR&gt;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Student Address:&lt;BR&gt;</a:t>
            </a:r>
          </a:p>
          <a:p>
            <a:pPr marL="0" indent="0">
              <a:buNone/>
            </a:pPr>
            <a:r>
              <a:rPr lang="en-GB" altLang="en-US" sz="3200" dirty="0">
                <a:solidFill>
                  <a:srgbClr val="C00000"/>
                </a:solidFill>
                <a:latin typeface="Book Antiqua" panose="02040602050305030304" pitchFamily="18" charset="0"/>
              </a:rPr>
              <a:t>&lt;TEXTAREA NAME=“address" ROWS="10" COLS="60</a:t>
            </a:r>
            <a:r>
              <a:rPr lang="en-GB" altLang="en-US" sz="3200" dirty="0" smtClean="0">
                <a:solidFill>
                  <a:srgbClr val="C00000"/>
                </a:solidFill>
                <a:latin typeface="Book Antiqua" panose="02040602050305030304" pitchFamily="18" charset="0"/>
              </a:rPr>
              <a:t>"&gt;Department </a:t>
            </a:r>
            <a:r>
              <a:rPr lang="en-GB" altLang="en-US" sz="3200" dirty="0">
                <a:solidFill>
                  <a:srgbClr val="C00000"/>
                </a:solidFill>
                <a:latin typeface="Book Antiqua" panose="02040602050305030304" pitchFamily="18" charset="0"/>
              </a:rPr>
              <a:t>of Computer Science </a:t>
            </a:r>
          </a:p>
          <a:p>
            <a:pPr marL="0" indent="0">
              <a:buNone/>
            </a:pPr>
            <a:r>
              <a:rPr lang="en-GB" altLang="en-US" sz="3200" dirty="0">
                <a:solidFill>
                  <a:srgbClr val="C00000"/>
                </a:solidFill>
                <a:latin typeface="Book Antiqua" panose="02040602050305030304" pitchFamily="18" charset="0"/>
              </a:rPr>
              <a:t>&lt;/TEXTAREA</a:t>
            </a:r>
            <a:r>
              <a:rPr lang="en-GB" altLang="en-US" sz="3200" dirty="0" smtClean="0">
                <a:solidFill>
                  <a:srgbClr val="C00000"/>
                </a:solidFill>
                <a:latin typeface="Book Antiqua" panose="02040602050305030304" pitchFamily="18" charset="0"/>
              </a:rPr>
              <a:t>&gt;</a:t>
            </a:r>
            <a:endParaRPr lang="en-GB" altLang="en-US" sz="32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&lt;BR&gt;&lt;BR&gt;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Student Age: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&lt;input type=text Name="age" size="4" </a:t>
            </a:r>
            <a:r>
              <a:rPr lang="en-GB" altLang="en-US" sz="3200" dirty="0" err="1">
                <a:latin typeface="Book Antiqua" panose="02040602050305030304" pitchFamily="18" charset="0"/>
              </a:rPr>
              <a:t>maxlength</a:t>
            </a:r>
            <a:r>
              <a:rPr lang="en-GB" altLang="en-US" sz="3200" dirty="0">
                <a:latin typeface="Book Antiqua" panose="02040602050305030304" pitchFamily="18" charset="0"/>
              </a:rPr>
              <a:t>="2"&gt;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&lt;BR&gt;&lt;BR&gt;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&lt;input type="submit" value="Press to Submit"&gt; 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&lt;input type="Reset" value="Clear Form"&gt;  </a:t>
            </a:r>
          </a:p>
          <a:p>
            <a:pPr marL="0" indent="0">
              <a:buNone/>
            </a:pPr>
            <a:r>
              <a:rPr lang="en-GB" altLang="en-US" sz="3200" dirty="0">
                <a:latin typeface="Book Antiqua" panose="02040602050305030304" pitchFamily="18" charset="0"/>
              </a:rPr>
              <a:t>&lt;/form&gt;</a:t>
            </a:r>
          </a:p>
          <a:p>
            <a:pPr marL="0" indent="0">
              <a:buNone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4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251" y="3907823"/>
            <a:ext cx="6480206" cy="29501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52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599"/>
            <a:ext cx="10515600" cy="631371"/>
          </a:xfrm>
        </p:spPr>
        <p:txBody>
          <a:bodyPr>
            <a:normAutofit/>
          </a:bodyPr>
          <a:lstStyle/>
          <a:p>
            <a:r>
              <a:rPr lang="en-GB" altLang="en-US" sz="2800" dirty="0">
                <a:solidFill>
                  <a:srgbClr val="FF0000"/>
                </a:solidFill>
                <a:latin typeface="Book Antiqua" panose="02040602050305030304" pitchFamily="18" charset="0"/>
              </a:rPr>
              <a:t>Password field: </a:t>
            </a:r>
            <a:r>
              <a:rPr lang="en-GB" altLang="en-US" sz="2800" i="1" dirty="0">
                <a:solidFill>
                  <a:srgbClr val="FF0000"/>
                </a:solidFill>
                <a:latin typeface="Book Antiqua" panose="02040602050305030304" pitchFamily="18" charset="0"/>
              </a:rPr>
              <a:t>type=“password”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9970"/>
            <a:ext cx="10515600" cy="5316993"/>
          </a:xfrm>
        </p:spPr>
        <p:txBody>
          <a:bodyPr/>
          <a:lstStyle/>
          <a:p>
            <a:pPr marL="0" indent="0" algn="just">
              <a:buNone/>
            </a:pPr>
            <a:r>
              <a:rPr lang="en-GB" altLang="en-US" sz="2600" dirty="0">
                <a:latin typeface="Book Antiqua" panose="02040602050305030304" pitchFamily="18" charset="0"/>
              </a:rPr>
              <a:t>Password field is text field where the entered characters of a password are masked (shown as asterisks or circles</a:t>
            </a:r>
            <a:r>
              <a:rPr lang="en-GB" altLang="en-US" sz="2600" dirty="0" smtClean="0">
                <a:latin typeface="Book Antiqua" panose="02040602050305030304" pitchFamily="18" charset="0"/>
              </a:rPr>
              <a:t>)</a:t>
            </a:r>
            <a:endParaRPr lang="en-GB" altLang="en-US" sz="26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en-GB" altLang="en-US" sz="2600" dirty="0">
                <a:latin typeface="Book Antiqua" panose="02040602050305030304" pitchFamily="18" charset="0"/>
              </a:rPr>
              <a:t>&lt;input type="</a:t>
            </a:r>
            <a:r>
              <a:rPr lang="en-GB" altLang="en-US" sz="2600" dirty="0">
                <a:solidFill>
                  <a:srgbClr val="C00000"/>
                </a:solidFill>
                <a:latin typeface="Book Antiqua" panose="02040602050305030304" pitchFamily="18" charset="0"/>
              </a:rPr>
              <a:t>password</a:t>
            </a:r>
            <a:r>
              <a:rPr lang="en-GB" altLang="en-US" sz="2600" dirty="0">
                <a:latin typeface="Book Antiqua" panose="02040602050305030304" pitchFamily="18" charset="0"/>
              </a:rPr>
              <a:t>" name="</a:t>
            </a:r>
            <a:r>
              <a:rPr lang="en-GB" altLang="en-US" sz="2600" dirty="0" err="1">
                <a:latin typeface="Book Antiqua" panose="02040602050305030304" pitchFamily="18" charset="0"/>
              </a:rPr>
              <a:t>psw</a:t>
            </a:r>
            <a:r>
              <a:rPr lang="en-GB" altLang="en-US" sz="2600" dirty="0">
                <a:latin typeface="Book Antiqua" panose="02040602050305030304" pitchFamily="18" charset="0"/>
              </a:rPr>
              <a:t>"&gt;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69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4172"/>
            <a:ext cx="10515600" cy="566058"/>
          </a:xfrm>
        </p:spPr>
        <p:txBody>
          <a:bodyPr>
            <a:normAutofit/>
          </a:bodyPr>
          <a:lstStyle/>
          <a:p>
            <a:r>
              <a:rPr lang="en-GB" altLang="en-US" sz="2800" dirty="0">
                <a:solidFill>
                  <a:srgbClr val="FF0000"/>
                </a:solidFill>
                <a:latin typeface="Book Antiqua" panose="02040602050305030304" pitchFamily="18" charset="0"/>
              </a:rPr>
              <a:t>Checkboxes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40230"/>
            <a:ext cx="10515600" cy="5436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altLang="en-US" sz="2600" dirty="0">
                <a:latin typeface="Book Antiqua" panose="02040602050305030304" pitchFamily="18" charset="0"/>
              </a:rPr>
              <a:t>Checkboxes are used to allow users to select ZERO or MORE options of a limited number of choices.</a:t>
            </a:r>
          </a:p>
          <a:p>
            <a:pPr marL="0" indent="0" algn="just">
              <a:buNone/>
            </a:pPr>
            <a:endParaRPr lang="en-US" sz="2600" dirty="0">
              <a:latin typeface="Book Antiqua" panose="02040602050305030304" pitchFamily="18" charset="0"/>
            </a:endParaRPr>
          </a:p>
        </p:txBody>
      </p:sp>
      <p:pic>
        <p:nvPicPr>
          <p:cNvPr id="4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1564821"/>
            <a:ext cx="8076293" cy="208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119" y="3948113"/>
            <a:ext cx="4031796" cy="2413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806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513"/>
            <a:ext cx="10515600" cy="533401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Picture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674914"/>
            <a:ext cx="7336970" cy="5976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9492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744"/>
            <a:ext cx="10515600" cy="620486"/>
          </a:xfrm>
        </p:spPr>
        <p:txBody>
          <a:bodyPr>
            <a:normAutofit/>
          </a:bodyPr>
          <a:lstStyle/>
          <a:p>
            <a:r>
              <a:rPr lang="en-GB" altLang="en-US" sz="2800" dirty="0">
                <a:solidFill>
                  <a:srgbClr val="FF0000"/>
                </a:solidFill>
                <a:latin typeface="Book Antiqua" panose="02040602050305030304" pitchFamily="18" charset="0"/>
              </a:rPr>
              <a:t>Radio button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4029"/>
            <a:ext cx="10515600" cy="6019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GB" altLang="en-US" sz="2600" dirty="0">
                <a:latin typeface="Book Antiqua" panose="02040602050305030304" pitchFamily="18" charset="0"/>
              </a:rPr>
              <a:t>&lt;input type="</a:t>
            </a:r>
            <a:r>
              <a:rPr lang="en-GB" altLang="en-US" sz="2600" dirty="0">
                <a:solidFill>
                  <a:srgbClr val="C00000"/>
                </a:solidFill>
                <a:latin typeface="Book Antiqua" panose="02040602050305030304" pitchFamily="18" charset="0"/>
              </a:rPr>
              <a:t>radio</a:t>
            </a:r>
            <a:r>
              <a:rPr lang="en-GB" altLang="en-US" sz="2600" dirty="0">
                <a:latin typeface="Book Antiqua" panose="02040602050305030304" pitchFamily="18" charset="0"/>
              </a:rPr>
              <a:t>"&gt; defines a radio button.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GB" altLang="en-US" sz="2600" dirty="0">
                <a:latin typeface="Book Antiqua" panose="02040602050305030304" pitchFamily="18" charset="0"/>
              </a:rPr>
              <a:t>Radio buttons let a user select ONLY ONE of a limited number of choices.</a:t>
            </a:r>
            <a:endParaRPr lang="en-US" sz="2600" dirty="0">
              <a:latin typeface="Book Antiqua" panose="02040602050305030304" pitchFamily="18" charset="0"/>
            </a:endParaRPr>
          </a:p>
        </p:txBody>
      </p:sp>
      <p:pic>
        <p:nvPicPr>
          <p:cNvPr id="4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272" y="1829253"/>
            <a:ext cx="10401527" cy="2089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818" y="3918857"/>
            <a:ext cx="3572782" cy="2405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27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98713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Picture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795338"/>
            <a:ext cx="7489371" cy="588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149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087"/>
            <a:ext cx="10515600" cy="642256"/>
          </a:xfrm>
        </p:spPr>
        <p:txBody>
          <a:bodyPr>
            <a:normAutofit/>
          </a:bodyPr>
          <a:lstStyle/>
          <a:p>
            <a:r>
              <a:rPr lang="en-GB" altLang="en-US" sz="2800" dirty="0">
                <a:solidFill>
                  <a:srgbClr val="FF0000"/>
                </a:solidFill>
                <a:latin typeface="Book Antiqua" panose="02040602050305030304" pitchFamily="18" charset="0"/>
              </a:rPr>
              <a:t>The &lt;select&gt; Element (Drop-Down List)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9342"/>
            <a:ext cx="10515600" cy="6128657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GB" sz="2600" dirty="0">
                <a:latin typeface="Book Antiqua" panose="02040602050305030304" pitchFamily="18" charset="0"/>
              </a:rPr>
              <a:t>The &lt;select&gt; element defines a drop-down list:</a:t>
            </a:r>
          </a:p>
          <a:p>
            <a:pPr lvl="1" algn="just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GB" sz="2600" dirty="0">
                <a:latin typeface="Book Antiqua" panose="02040602050305030304" pitchFamily="18" charset="0"/>
              </a:rPr>
              <a:t>The &lt;option&gt; elements defines the options to select.</a:t>
            </a:r>
          </a:p>
          <a:p>
            <a:pPr lvl="1" algn="just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GB" sz="2600" dirty="0">
                <a:latin typeface="Book Antiqua" panose="02040602050305030304" pitchFamily="18" charset="0"/>
              </a:rPr>
              <a:t>The list will normally show the first item as selected.</a:t>
            </a:r>
          </a:p>
          <a:p>
            <a:pPr lvl="1" algn="just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GB" sz="2600" dirty="0">
                <a:latin typeface="Book Antiqua" panose="02040602050305030304" pitchFamily="18" charset="0"/>
              </a:rPr>
              <a:t>You can add a selected attribute to define a predefined option.</a:t>
            </a:r>
          </a:p>
          <a:p>
            <a:pPr marL="0" indent="0">
              <a:buNone/>
            </a:pPr>
            <a:endParaRPr lang="en-US" dirty="0">
              <a:latin typeface="Book Antiqua" panose="02040602050305030304" pitchFamily="18" charset="0"/>
            </a:endParaRPr>
          </a:p>
        </p:txBody>
      </p:sp>
      <p:pic>
        <p:nvPicPr>
          <p:cNvPr id="4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17296"/>
            <a:ext cx="5791200" cy="3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783" y="2772089"/>
            <a:ext cx="3151188" cy="2757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3027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971"/>
            <a:ext cx="10515600" cy="576943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Picture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641" y="402770"/>
            <a:ext cx="5825359" cy="635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3658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857"/>
            <a:ext cx="10515600" cy="59871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5286"/>
            <a:ext cx="10515600" cy="57803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sz="2600" dirty="0">
                <a:latin typeface="Book Antiqua" panose="02040602050305030304" pitchFamily="18" charset="0"/>
              </a:rPr>
              <a:t>Changing number of visible options in the list</a:t>
            </a:r>
          </a:p>
          <a:p>
            <a:pPr marL="457200" lvl="1" indent="0">
              <a:buNone/>
              <a:defRPr/>
            </a:pPr>
            <a:r>
              <a:rPr lang="en-GB" sz="2600" dirty="0">
                <a:latin typeface="Book Antiqua" panose="02040602050305030304" pitchFamily="18" charset="0"/>
              </a:rPr>
              <a:t>&lt;select name="city" </a:t>
            </a:r>
            <a:r>
              <a:rPr lang="en-GB" sz="2600" b="1" dirty="0">
                <a:solidFill>
                  <a:srgbClr val="00B050"/>
                </a:solidFill>
                <a:latin typeface="Book Antiqua" panose="02040602050305030304" pitchFamily="18" charset="0"/>
              </a:rPr>
              <a:t>SIZE="4“ </a:t>
            </a:r>
            <a:r>
              <a:rPr lang="en-GB" sz="2600" dirty="0">
                <a:latin typeface="Book Antiqua" panose="02040602050305030304" pitchFamily="18" charset="0"/>
              </a:rPr>
              <a:t>&gt;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38337"/>
            <a:ext cx="5335587" cy="345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282" y="3959452"/>
            <a:ext cx="3482747" cy="2746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3034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087"/>
            <a:ext cx="10515600" cy="555170"/>
          </a:xfrm>
        </p:spPr>
        <p:txBody>
          <a:bodyPr>
            <a:normAutofit/>
          </a:bodyPr>
          <a:lstStyle/>
          <a:p>
            <a:r>
              <a:rPr lang="en-GB" altLang="en-US" sz="2800" dirty="0">
                <a:solidFill>
                  <a:srgbClr val="FF0000"/>
                </a:solidFill>
                <a:latin typeface="Book Antiqua" panose="02040602050305030304" pitchFamily="18" charset="0"/>
              </a:rPr>
              <a:t>Multiple selection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2257"/>
            <a:ext cx="10515600" cy="5534706"/>
          </a:xfrm>
        </p:spPr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r>
              <a:rPr lang="en-GB" sz="2600" dirty="0">
                <a:latin typeface="Book Antiqua" panose="02040602050305030304" pitchFamily="18" charset="0"/>
              </a:rPr>
              <a:t>&lt;select name="language" </a:t>
            </a:r>
            <a:r>
              <a:rPr lang="en-GB" sz="2600" dirty="0">
                <a:solidFill>
                  <a:srgbClr val="FF0000"/>
                </a:solidFill>
                <a:latin typeface="Book Antiqua" panose="02040602050305030304" pitchFamily="18" charset="0"/>
              </a:rPr>
              <a:t>MULTIPLE</a:t>
            </a:r>
            <a:r>
              <a:rPr lang="en-GB" sz="2600" dirty="0">
                <a:latin typeface="Book Antiqua" panose="02040602050305030304" pitchFamily="18" charset="0"/>
              </a:rPr>
              <a:t>&gt;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37254"/>
            <a:ext cx="5606143" cy="473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871" y="2849845"/>
            <a:ext cx="3906158" cy="3071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290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30"/>
            <a:ext cx="10515600" cy="511628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Picture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971" y="642258"/>
            <a:ext cx="7260772" cy="6215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100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087"/>
            <a:ext cx="10515600" cy="511627"/>
          </a:xfrm>
        </p:spPr>
        <p:txBody>
          <a:bodyPr>
            <a:normAutofit/>
          </a:bodyPr>
          <a:lstStyle/>
          <a:p>
            <a:r>
              <a:rPr lang="en-GB" altLang="en-US" sz="2800" dirty="0" err="1">
                <a:solidFill>
                  <a:srgbClr val="FF0000"/>
                </a:solidFill>
                <a:latin typeface="Book Antiqua" panose="02040602050305030304" pitchFamily="18" charset="0"/>
              </a:rPr>
              <a:t>Fieldset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8714"/>
            <a:ext cx="10515600" cy="613954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sz="2600" dirty="0">
                <a:latin typeface="Book Antiqua" panose="02040602050305030304" pitchFamily="18" charset="0"/>
              </a:rPr>
              <a:t>It groups related elements in a form:</a:t>
            </a:r>
          </a:p>
          <a:p>
            <a:pPr marL="457200" lvl="1" indent="0">
              <a:buNone/>
              <a:defRPr/>
            </a:pPr>
            <a:r>
              <a:rPr lang="en-GB" sz="2600" dirty="0" err="1">
                <a:latin typeface="Book Antiqua" panose="02040602050305030304" pitchFamily="18" charset="0"/>
              </a:rPr>
              <a:t>e.g</a:t>
            </a:r>
            <a:r>
              <a:rPr lang="en-GB" sz="2600" dirty="0">
                <a:latin typeface="Book Antiqua" panose="02040602050305030304" pitchFamily="18" charset="0"/>
              </a:rPr>
              <a:t>:</a:t>
            </a:r>
          </a:p>
          <a:p>
            <a:pPr marL="457200" lvl="1" indent="0">
              <a:buNone/>
              <a:defRPr/>
            </a:pPr>
            <a:r>
              <a:rPr lang="en-GB" sz="2600" dirty="0">
                <a:latin typeface="Book Antiqua" panose="02040602050305030304" pitchFamily="18" charset="0"/>
              </a:rPr>
              <a:t>Personal data fields</a:t>
            </a:r>
          </a:p>
          <a:p>
            <a:pPr marL="457200" lvl="1" indent="0">
              <a:buNone/>
              <a:defRPr/>
            </a:pPr>
            <a:r>
              <a:rPr lang="en-GB" sz="2600" dirty="0">
                <a:latin typeface="Book Antiqua" panose="02040602050305030304" pitchFamily="18" charset="0"/>
              </a:rPr>
              <a:t>Academic data fields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963" y="1110341"/>
            <a:ext cx="4930094" cy="5551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5337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8857"/>
            <a:ext cx="10515600" cy="511629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Picture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2000"/>
            <a:ext cx="4180114" cy="2710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72543"/>
            <a:ext cx="6466114" cy="2021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2104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087"/>
            <a:ext cx="10515600" cy="587827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Book Antiqua" panose="02040602050305030304" pitchFamily="18" charset="0"/>
              </a:rPr>
              <a:t>Example</a:t>
            </a:r>
            <a:endParaRPr lang="en-US" sz="2800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Picture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183" y="326571"/>
            <a:ext cx="5217873" cy="6455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100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493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 Antiqua</vt:lpstr>
      <vt:lpstr>Calibri</vt:lpstr>
      <vt:lpstr>Calibri Light</vt:lpstr>
      <vt:lpstr>Wingdings</vt:lpstr>
      <vt:lpstr>Office Theme</vt:lpstr>
      <vt:lpstr>Web Development  Lecture 04</vt:lpstr>
      <vt:lpstr>Text Box </vt:lpstr>
      <vt:lpstr>Example</vt:lpstr>
      <vt:lpstr>Text Area</vt:lpstr>
      <vt:lpstr>Password field: type=“password”</vt:lpstr>
      <vt:lpstr>Checkboxes</vt:lpstr>
      <vt:lpstr>Example</vt:lpstr>
      <vt:lpstr>Radio button</vt:lpstr>
      <vt:lpstr>Example</vt:lpstr>
      <vt:lpstr>The &lt;select&gt; Element (Drop-Down List)</vt:lpstr>
      <vt:lpstr>Example</vt:lpstr>
      <vt:lpstr>Example</vt:lpstr>
      <vt:lpstr>Multiple selection</vt:lpstr>
      <vt:lpstr>Example</vt:lpstr>
      <vt:lpstr>Fieldset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111</cp:revision>
  <dcterms:created xsi:type="dcterms:W3CDTF">2025-05-19T05:32:27Z</dcterms:created>
  <dcterms:modified xsi:type="dcterms:W3CDTF">2025-09-08T05:42:28Z</dcterms:modified>
</cp:coreProperties>
</file>